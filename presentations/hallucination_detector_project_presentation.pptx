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417320"/>
            <a:ext cx="10424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200" b="1">
                <a:solidFill>
                  <a:srgbClr val="1E1E1E"/>
                </a:solidFill>
                <a:latin typeface="Aptos"/>
              </a:rPr>
              <a:t>Hallucination Detector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54480" y="2286000"/>
            <a:ext cx="9052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5C5C5C"/>
                </a:solidFill>
                <a:latin typeface="Aptos"/>
              </a:rPr>
              <a:t>A graph-based system for detecting factual inconsistency in LLM responses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26280" y="3063240"/>
            <a:ext cx="31546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0" y="3840480"/>
            <a:ext cx="6537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>
                <a:solidFill>
                  <a:srgbClr val="1F5C82"/>
                </a:solidFill>
                <a:latin typeface="Aptos"/>
              </a:rPr>
              <a:t>FastAPI | LangGraph | Gemini | FAISS | Wikipedia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60520" y="58978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C5C5C"/>
                </a:solidFill>
                <a:latin typeface="Aptos"/>
              </a:rP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Large language models can produce confident but factually incorrect answers.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Final answers alone do not reveal where incorrect claims entered the reasoning chain.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Manual fact-checking is slow, inconsistent, and difficult to scale.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project aims to inspect, verify, and score factual claims in an LLM output.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Goal: make hallucination detection traceable at the claim level.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Accept a user query, generated answer, and optional reasoning process.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Break the response into independent factual claims.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Collect supporting or contradicting evidence from multiple channels.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Classify each claim and compute an overall reliability score.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Route unreliable outputs to a fallback response path.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The system emphasizes transparency over a single black-box judgment.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System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103120"/>
            <a:ext cx="141732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300" b="1">
                <a:solidFill>
                  <a:srgbClr val="1E1E1E"/>
                </a:solidFill>
                <a:latin typeface="Aptos"/>
              </a:defRPr>
            </a:pPr>
            <a:r>
              <a:t>User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514600" y="2103120"/>
            <a:ext cx="1508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300" b="1">
                <a:solidFill>
                  <a:srgbClr val="1E1E1E"/>
                </a:solidFill>
                <a:latin typeface="Aptos"/>
              </a:defRPr>
            </a:pPr>
            <a:r>
              <a:t>FastAPI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103120"/>
            <a:ext cx="17830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300" b="1">
                <a:solidFill>
                  <a:srgbClr val="1E1E1E"/>
                </a:solidFill>
                <a:latin typeface="Aptos"/>
              </a:defRPr>
            </a:pPr>
            <a:r>
              <a:t>LangGraph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103120"/>
            <a:ext cx="160020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300" b="1">
                <a:solidFill>
                  <a:srgbClr val="1E1E1E"/>
                </a:solidFill>
                <a:latin typeface="Aptos"/>
              </a:defRPr>
            </a:pPr>
            <a:r>
              <a:t>Evidence Channels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2103120"/>
            <a:ext cx="1234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300" b="1">
                <a:solidFill>
                  <a:srgbClr val="1E1E1E"/>
                </a:solidFill>
                <a:latin typeface="Aptos"/>
              </a:defRPr>
            </a:pPr>
            <a:r>
              <a:t>Verifier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287000" y="2103120"/>
            <a:ext cx="132588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300" b="1">
                <a:solidFill>
                  <a:srgbClr val="1E1E1E"/>
                </a:solidFill>
                <a:latin typeface="Aptos"/>
              </a:defRPr>
            </a:pPr>
            <a:r>
              <a:t>Score + Fallback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03120" y="2491740"/>
            <a:ext cx="411480" cy="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023360" y="2491740"/>
            <a:ext cx="457200" cy="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263640" y="2491740"/>
            <a:ext cx="457200" cy="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2491740"/>
            <a:ext cx="411480" cy="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966960" y="2491740"/>
            <a:ext cx="320040" cy="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3703320"/>
            <a:ext cx="99669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Frontend submits query, answer, and reasoning to the API.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A stateful graph coordinates claim extraction, evidence gathering, verification, scoring, and routing.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Server-sent events stream every node update back to the UI for live observability.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Methodology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600200"/>
            <a:ext cx="475488" cy="475488"/>
          </a:xfrm>
          <a:prstGeom prst="ellipse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1328" y="161848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1E1E"/>
                </a:solidFill>
                <a:latin typeface="Aptos"/>
              </a:rPr>
              <a:t>Generate or paste answer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0" y="1837943"/>
            <a:ext cx="594360" cy="0"/>
          </a:xfrm>
          <a:prstGeom prst="line">
            <a:avLst/>
          </a:prstGeom>
          <a:ln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526280" y="1600200"/>
            <a:ext cx="475488" cy="475488"/>
          </a:xfrm>
          <a:prstGeom prst="ellipse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4648" y="161848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1E1E"/>
                </a:solidFill>
                <a:latin typeface="Aptos"/>
              </a:rPr>
              <a:t>Extract atomic claims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60920" y="1837943"/>
            <a:ext cx="594359" cy="0"/>
          </a:xfrm>
          <a:prstGeom prst="line">
            <a:avLst/>
          </a:prstGeom>
          <a:ln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229600" y="1600200"/>
            <a:ext cx="475488" cy="475488"/>
          </a:xfrm>
          <a:prstGeom prst="ellipse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7968" y="161848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1E1E"/>
                </a:solidFill>
                <a:latin typeface="Aptos"/>
              </a:rPr>
              <a:t>Retrieve evidence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474720"/>
            <a:ext cx="475488" cy="475488"/>
          </a:xfrm>
          <a:prstGeom prst="ellipse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49300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1E1E"/>
                </a:solidFill>
                <a:latin typeface="Aptos"/>
              </a:rPr>
              <a:t>Run expert and tool checks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712463"/>
            <a:ext cx="594360" cy="0"/>
          </a:xfrm>
          <a:prstGeom prst="line">
            <a:avLst/>
          </a:prstGeom>
          <a:ln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526280" y="3474720"/>
            <a:ext cx="475488" cy="475488"/>
          </a:xfrm>
          <a:prstGeom prst="ellipse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84648" y="349300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1E1E"/>
                </a:solidFill>
                <a:latin typeface="Aptos"/>
              </a:rPr>
              <a:t>Classify each claim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60920" y="3712463"/>
            <a:ext cx="594359" cy="0"/>
          </a:xfrm>
          <a:prstGeom prst="line">
            <a:avLst/>
          </a:prstGeom>
          <a:ln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0" y="3474720"/>
            <a:ext cx="475488" cy="475488"/>
          </a:xfrm>
          <a:prstGeom prst="ellipse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8" y="3493008"/>
            <a:ext cx="24688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E1E1E"/>
                </a:solidFill>
                <a:latin typeface="Aptos"/>
              </a:rPr>
              <a:t>Score and route result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Claim Decomposition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answer and reasoning process are converted into atomic factual statements.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Each claim is expected to be independently verifiable.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Claims are extracted from both the final response and the intermediate reasoning.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This helps identify whether hallucination originates in reasoning or final synthesis.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Example: one long answer becomes a list of fact-checkable claims.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Evidence Collection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2423160"/>
            <a:ext cx="1920240" cy="77724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700" b="1">
                <a:solidFill>
                  <a:srgbClr val="1E1E1E"/>
                </a:solidFill>
                <a:latin typeface="Aptos"/>
              </a:defRPr>
            </a:pPr>
            <a:r>
              <a:t>Claim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400" b="1">
                <a:solidFill>
                  <a:srgbClr val="1E1E1E"/>
                </a:solidFill>
                <a:latin typeface="Aptos"/>
              </a:defRPr>
            </a:pPr>
            <a:r>
              <a:t>Retrieval</a:t>
            </a:r>
            <a:br/>
            <a:r>
              <a:t>FAISS sample knowledge 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56032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400" b="1">
                <a:solidFill>
                  <a:srgbClr val="1E1E1E"/>
                </a:solidFill>
                <a:latin typeface="Aptos"/>
              </a:defRPr>
            </a:pPr>
            <a:r>
              <a:t>Expert Analysis</a:t>
            </a:r>
            <a:br/>
            <a:r>
              <a:t>3 LLM expert personas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703320"/>
            <a:ext cx="21945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400" b="1">
                <a:solidFill>
                  <a:srgbClr val="1E1E1E"/>
                </a:solidFill>
                <a:latin typeface="Aptos"/>
              </a:defRPr>
            </a:pPr>
            <a:r>
              <a:t>Tool Validation</a:t>
            </a:r>
            <a:br/>
            <a:r>
              <a:t>Wikipedia lookup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03720" y="2423160"/>
            <a:ext cx="2057400" cy="86868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600" b="1">
                <a:solidFill>
                  <a:srgbClr val="1E1E1E"/>
                </a:solidFill>
                <a:latin typeface="Aptos"/>
              </a:defRPr>
            </a:pPr>
            <a:r>
              <a:t>Evidence Aggregator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29800" y="2423160"/>
            <a:ext cx="169164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600" b="1">
                <a:solidFill>
                  <a:srgbClr val="1E1E1E"/>
                </a:solidFill>
                <a:latin typeface="Aptos"/>
              </a:defRPr>
            </a:pPr>
            <a:r>
              <a:t>Verifier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2788920" y="1828800"/>
            <a:ext cx="868680" cy="98298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1828800"/>
            <a:ext cx="1051560" cy="102870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788920" y="2811780"/>
            <a:ext cx="868680" cy="16002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5852160" y="2857500"/>
            <a:ext cx="1051560" cy="11430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788920" y="2811780"/>
            <a:ext cx="868680" cy="130302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852160" y="2857500"/>
            <a:ext cx="1051560" cy="125730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961120" y="2857500"/>
            <a:ext cx="868680" cy="0"/>
          </a:xfrm>
          <a:prstGeom prst="line">
            <a:avLst/>
          </a:prstGeom>
          <a:ln w="17780">
            <a:solidFill>
              <a:srgbClr val="5C5C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560" y="512064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1F5C82"/>
                </a:solidFill>
                <a:latin typeface="Aptos"/>
              </a:rPr>
              <a:t>Multiple evidence channels reduce dependence on a single source and improve explainability.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Verification and Scoring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Each claim is classified as Supported, Contradicted, or Not Enough Info.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Supported claims contribute positively to the final score.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Contradicted claims reduce confidence sharply.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Insufficient evidence is penalized mildly to reflect uncertainty.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A configured threshold determines whether the answer is accepted or routed to fallback.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Score = normalized weighted claim verdicts; accept threshold = 0.75.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Application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60120" y="1234440"/>
            <a:ext cx="1965960" cy="50292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500" b="1">
                <a:solidFill>
                  <a:srgbClr val="1E1E1E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271016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E1E1E"/>
                </a:solidFill>
                <a:latin typeface="Aptos"/>
              </a:rPr>
              <a:t>HTML, CSS, JavaScript web interface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926080" y="1490472"/>
            <a:ext cx="164592" cy="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60120" y="1984248"/>
            <a:ext cx="1965960" cy="50292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500" b="1">
                <a:solidFill>
                  <a:srgbClr val="1E1E1E"/>
                </a:solidFill>
                <a:latin typeface="Aptos"/>
              </a:defRPr>
            </a:pPr>
            <a:r>
              <a:t>API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2020824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E1E1E"/>
                </a:solidFill>
                <a:latin typeface="Aptos"/>
              </a:rPr>
              <a:t>FastAPI endpoints and SSE streaming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240280"/>
            <a:ext cx="164592" cy="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60120" y="2734056"/>
            <a:ext cx="1965960" cy="50292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500" b="1">
                <a:solidFill>
                  <a:srgbClr val="1E1E1E"/>
                </a:solidFill>
                <a:latin typeface="Aptos"/>
              </a:defRPr>
            </a:pPr>
            <a:r>
              <a:t>Graph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770632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E1E1E"/>
                </a:solidFill>
                <a:latin typeface="Aptos"/>
              </a:rPr>
              <a:t>LangGraph state machine and node routing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26080" y="2990088"/>
            <a:ext cx="164592" cy="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0120" y="3483864"/>
            <a:ext cx="1965960" cy="50292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500" b="1">
                <a:solidFill>
                  <a:srgbClr val="1E1E1E"/>
                </a:solidFill>
                <a:latin typeface="Aptos"/>
              </a:defRPr>
            </a:pPr>
            <a:r>
              <a:t>LLM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3520440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E1E1E"/>
                </a:solidFill>
                <a:latin typeface="Aptos"/>
              </a:rPr>
              <a:t>Gemini model for generation, claims, experts, verification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26080" y="3739896"/>
            <a:ext cx="164592" cy="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4233672"/>
            <a:ext cx="1965960" cy="50292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500" b="1">
                <a:solidFill>
                  <a:srgbClr val="1E1E1E"/>
                </a:solidFill>
                <a:latin typeface="Aptos"/>
              </a:defRPr>
            </a:pPr>
            <a:r>
              <a:t>Knowledge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4270248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E1E1E"/>
                </a:solidFill>
                <a:latin typeface="Aptos"/>
              </a:rPr>
              <a:t>FAISS vector search over sample documents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26080" y="4489704"/>
            <a:ext cx="164592" cy="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0120" y="4983479"/>
            <a:ext cx="1965960" cy="50292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/>
          <a:lstStyle/>
          <a:p>
            <a:pPr algn="ctr">
              <a:defRPr sz="1500" b="1">
                <a:solidFill>
                  <a:srgbClr val="1E1E1E"/>
                </a:solidFill>
                <a:latin typeface="Aptos"/>
              </a:defRPr>
            </a:pPr>
            <a:r>
              <a:t>Tool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54680" y="5020055"/>
            <a:ext cx="7269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0">
                <a:solidFill>
                  <a:srgbClr val="1E1E1E"/>
                </a:solidFill>
                <a:latin typeface="Aptos"/>
              </a:rPr>
              <a:t>Wikipedia validation for external lookup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926080" y="5239512"/>
            <a:ext cx="164592" cy="0"/>
          </a:xfrm>
          <a:prstGeom prst="line">
            <a:avLst/>
          </a:prstGeom>
          <a:ln>
            <a:solidFill>
              <a:srgbClr val="D2D2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User Interface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web UI collects query, answer, and reasoning/process input.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Users can generate an answer or load a sample test case.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backend streams node-level updates while analysis is running.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output panel shows score, confidence, claim verdicts, and pipeline progress.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The interface is designed for demonstration and observability of each pipeline stage.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Claim-level visibility into factual reliability.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Clear distinction between supported, contradicted, and uncertain claims.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A confidence score that summarizes the overall answer quality.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Fallback routing for responses that do not meet reliability criteria.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A modular architecture where evidence sources and scoring logic can be replaced.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The project produces both a decision and an explanation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778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E1E1E"/>
                </a:solidFill>
                <a:latin typeface="Aptos"/>
              </a:rPr>
              <a:t>Limitations and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33271"/>
            <a:ext cx="1097280" cy="36576"/>
          </a:xfrm>
          <a:prstGeom prst="rect">
            <a:avLst/>
          </a:prstGeom>
          <a:solidFill>
            <a:srgbClr val="1F5C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6812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Current evidence quality depends on the local sample knowledge base and Wikipedia lookup.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Expert analysis is LLM-generated and should be validated against trusted sources.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Future work can add domain-specific knowledge bases, stronger citations, and benchmark evaluation.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The scoring policy can be expanded with confidence calibration and source reliability weighting.</a:t>
            </a:r>
          </a:p>
          <a:p>
            <a:pPr>
              <a:spcAft>
                <a:spcPts val="900"/>
              </a:spcAft>
              <a:defRPr sz="1900">
                <a:solidFill>
                  <a:srgbClr val="1E1E1E"/>
                </a:solidFill>
                <a:latin typeface="Aptos"/>
              </a:defRPr>
            </a:pPr>
            <a:r>
              <a:t>Deployment can include persistent storage, audit logs, and user feedback loops.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600200"/>
            <a:ext cx="3246120" cy="2971800"/>
          </a:xfrm>
          <a:prstGeom prst="roundRect">
            <a:avLst/>
          </a:prstGeom>
          <a:solidFill>
            <a:srgbClr val="F4F6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2000" b="1">
                <a:solidFill>
                  <a:srgbClr val="1F5C82"/>
                </a:solidFill>
                <a:latin typeface="Aptos"/>
              </a:defRPr>
            </a:pPr>
            <a:r>
              <a:t>Next step: evaluate the detector on a benchmark set of known factual and hallucinated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C5C5C"/>
                </a:solidFill>
                <a:latin typeface="Aptos"/>
              </a:rPr>
              <a:t>Hallucination Detector | Academic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19088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C5C5C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